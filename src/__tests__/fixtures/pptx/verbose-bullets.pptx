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sldIdLst>
    <p:sldId id="260" r:id="rId3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lvl1pPr marL="228600" indent="-228600" algn="l" defTabSz="914400" rtl="0" eaLnBrk="1" latinLnBrk="0" hangingPunct="1">
        <a:lnSpc>
          <a:spcPct val="100000"/>
        </a:lnSpc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  <p:sldLayoutIdLst>
    <p:sldLayoutId id="214748366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>
            <a:extLst>
              <a:ext uri="{FF2B5EF4-FFF2-40B4-BE49-F238E27FC236}">
                <a16:creationId xmlns:a16="http://schemas.microsoft.com/office/drawing/2014/main" id="{C1E5F2A6-8B4D-4E7C-9A1F-3D6B8C0A5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68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8000" dirty="0">
                <a:solidFill>
                  <a:schemeClr val="bg1"/>
                </a:solidFill>
              </a:rPr>
              <a:t>How Variables Work</a:t>
            </a:r>
            <a:endParaRPr b="0" lang="en-US" sz="8000" spc="-1" strike="noStrike"/>
          </a:p>
        </p:txBody>
      </p:sp>
      <p:sp>
        <p:nvSpPr>
          <p:cNvPr id="522" name="PlaceHolder 2"/>
          <p:cNvSpPr>
            <a:spLocks noGrp="1"/>
          </p:cNvSpPr>
          <p:nvPr>
            <p:ph/>
          </p:nvPr>
        </p:nvSpPr>
        <p:spPr>
          <a:xfrm>
            <a:off x="241300" y="1231900"/>
            <a:ext cx="8166100" cy="535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0336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4000" spc="-1" strike="noStrike" u="sng">
                <a:solidFill>
                  <a:schemeClr val="dk1"/>
                </a:solidFill>
                <a:uFillTx/>
                <a:latin typeface="Tw Cen MT"/>
              </a:rPr>
              <a:t>Store references</a:t>
            </a:r>
            <a:r>
              <a:rPr b="0" lang="en-US" sz="2800" spc="-1" strike="noStrike">
                <a:solidFill>
                  <a:schemeClr val="dk1"/>
                </a:solidFill>
                <a:latin typeface="Tw Cen MT"/>
              </a:rPr>
              <a:t>: a variable holds an address in memory</a:t>
            </a:r>
            <a:endParaRPr b="0" lang="en-US" sz="2800" spc="-1" strike="noStrike"/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Tw Cen MT"/>
              </a:rPr>
              <a:t>Pointers track objects    </a:t>
            </a:r>
            <a:r>
              <a:rPr b="0" lang="en-US" sz="2800" spc="-1" strike="noStrike">
                <a:solidFill>
                  <a:schemeClr val="dk1"/>
                </a:solidFill>
                <a:latin typeface="Tw Cen MT"/>
              </a:rPr>
              <a:t>: the address points to a live object</a:t>
            </a:r>
            <a:endParaRPr b="0" lang="en-US" sz="2800" spc="-1" strike="noStrike"/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Tw Cen MT"/>
              </a:rPr>
              <a:t>(A name can refer to many </a:t>
            </a:r>
            <a:r>
              <a:rPr b="0" lang="en-US" sz="2800" spc="-1" strike="noStrike" u="sng">
                <a:solidFill>
                  <a:schemeClr val="dk1"/>
                </a:solidFill>
                <a:uFillTx/>
                <a:latin typeface="Tw Cen MT"/>
              </a:rPr>
              <a:t>kinds</a:t>
            </a:r>
            <a:br>
              <a:rPr sz="2800"/>
            </a:br>
            <a:r>
              <a:rPr b="0" lang="en-US" sz="2800" spc="-1" strike="noStrike">
                <a:solidFill>
                  <a:schemeClr val="dk1"/>
                </a:solidFill>
                <a:latin typeface="Tw Cen MT"/>
              </a:rPr>
              <a:t>of objects over time</a:t>
            </a:r>
            <a:br>
              <a:rPr sz="2800"/>
            </a:br>
            <a:r>
              <a:rPr b="0" lang="en-US" sz="2800" spc="-1" strike="noStrike">
                <a:solidFill>
                  <a:schemeClr val="dk1"/>
                </a:solidFill>
                <a:latin typeface="Tw Cen MT"/>
              </a:rPr>
              <a:t>but only one at a time)</a:t>
            </a:r>
            <a:endParaRPr b="0" lang="en-US" sz="2800" spc="-1" strike="noStrike"/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en-US" sz="2400" spc="-1" strike="noStrike" err="1">
                <a:solidFill>
                  <a:schemeClr val="dk1"/>
                </a:solidFill>
                <a:latin typeface="Tw Cen MT"/>
              </a:rPr>
              <a:t>Sub-point without an explicit marker</a:t>
            </a:r>
            <a:endParaRPr b="0" lang="en-US" sz="2800" spc="-1" strike="noStrike"/>
          </a:p>
          <a:p>
            <a:pPr marL="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Tw Cen MT"/>
              </a:rPr>
              <a:t>• Verify the installation</a:t>
            </a:r>
            <a:endParaRPr b="0" lang="en-US" sz="2800" spc="-1" strike="noStrike"/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Tw Cen MT"/>
              </a:rPr>
              <a:t>Level	Item</a:t>
            </a:r>
            <a:endParaRPr b="0" lang="en-US" sz="2800" spc="-1" strike="noStrike"/>
          </a:p>
          <a:p>
            <a:endParaRPr b="0" lang="en-US" sz="2800" spc="-1" strike="noStrike"/>
          </a:p>
        </p:txBody>
      </p:sp>
      <p:pic>
        <p:nvPicPr>
          <p:cNvPr id="520" name="Picture 2" descr=""/>
          <p:cNvPicPr/>
          <p:nvPr/>
        </p:nvPicPr>
        <p:blipFill>
          <a:blip r:embed="rId2"/>
          <a:stretch/>
        </p:blipFill>
        <p:spPr>
          <a:xfrm>
            <a:off x="6616700" y="1346200"/>
            <a:ext cx="5575300" cy="5080000"/>
          </a:xfrm>
          <a:prstGeom prst="rect">
            <a:avLst/>
          </a:prstGeom>
          <a:ln w="0">
            <a:noFill/>
          </a:ln>
        </p:spPr>
      </p:pic>
      <p:sp>
        <p:nvSpPr>
          <p:cNvPr id="525" name="TextBox 8"/>
          <p:cNvSpPr txBox="1"/>
          <p:nvPr/>
        </p:nvSpPr>
        <p:spPr>
          <a:xfrm>
            <a:off x="762000" y="4826000"/>
            <a:ext cx="2540000" cy="762000"/>
          </a:xfrm>
          <a:prstGeom prst="rect">
            <a:avLst/>
          </a:prstGeom>
        </p:spPr>
        <p:txBody>
          <a:bodyPr/>
          <a:lstStyle/>
          <a:p>
            <a:pPr marL="228600" indent="-228600">
              <a:buChar char="•"/>
            </a:pPr>
            <a:r>
              <a:rPr lang="en-US" sz="1800" dirty="0"/>
              <a:t>•</a:t>
            </a:r>
          </a:p>
        </p:txBody>
      </p:sp>
      <p:sp>
        <p:nvSpPr>
          <p:cNvPr id="523" name="Footer Placeholder 522">
            <a:extLst>
              <a:ext uri="{FF2B5EF4-FFF2-40B4-BE49-F238E27FC236}">
                <a16:creationId xmlns:a16="http://schemas.microsoft.com/office/drawing/2014/main" id="{2E7B9C51-6A3D-4F18-9B62-C0D8A1F4E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Course Materials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A6C34-9B2E-4D5C-A7D3-E5B6C8D9A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82CE23-FBF7-DC48-86EE-D59CCB036E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w Cen MT">
      <a:majorFont>
        <a:latin typeface="Tw Cen MT" panose="020B0602020104020603"/>
        <a:ea typeface=""/>
        <a:cs typeface=""/>
      </a:majorFont>
      <a:minorFont>
        <a:latin typeface="Tw Cen MT" panose="020B0602020104020603"/>
        <a:ea typeface=""/>
        <a:cs typeface=""/>
      </a:minorFont>
    </a:fontScheme>
  </a:themeElements>
</a:theme>
</file>