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sldIdLst>
    <p:sldId id="260" r:id="rId3"/>
  </p:sldIdLst>
  <p:sldSz cx="9144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theme" Target="theme/theme1.xml"/><Relationship Id="rId3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</p:bodyStyle>
    <p:otherStyle>
      <a:lvl1pPr marL="228600" indent="-228600" algn="l" defTabSz="914400" rtl="0" eaLnBrk="1" latinLnBrk="0" hangingPunct="1">
        <a:lnSpc>
          <a:spcPct val="100000"/>
        </a:lnSpc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  <p:sldLayoutIdLst>
    <p:sldLayoutId id="2147483661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D9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illustration">
            <a:extLst>
              <a:ext uri="{FF2B5EF4-FFF2-40B4-BE49-F238E27FC236}">
                <a16:creationId xmlns:a16="http://schemas.microsoft.com/office/drawing/2014/main" id="{D82144EC-8C07-883D-1366-E14D036528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0" y="1422400"/>
            <a:ext cx="6616700" cy="440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9C1986-A4A3-5A45-852E-EFFA9B41A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700"/>
            <a:ext cx="12192000" cy="16891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8000" dirty="0">
                <a:solidFill>
                  <a:schemeClr val="bg1"/>
                </a:solidFill>
              </a:rPr>
              <a:t>Strings and Immutability</a:t>
            </a:r>
            <a:endParaRPr b="0" lang="en-US" sz="8000" spc="-1" strike="noStri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03881-0741-A846-9923-281696198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0" y="1371600"/>
            <a:ext cx="4953000" cy="5105400"/>
          </a:xfrm>
        </p:spPr>
        <p:txBody>
          <a:bodyPr anchor="ctr">
            <a:normAutofit lnSpcReduction="10000"/>
          </a:bodyPr>
          <a:lstStyle/>
          <a:p>
            <a:r>
              <a:rPr lang="en-US" dirty="0">
                <a:solidFill>
                  <a:schemeClr val="bg1"/>
                </a:solidFill>
              </a:rPr>
              <a:t>Strings cannot be changed in place</a:t>
            </a:r>
          </a:p>
          <a:p>
            <a:r>
              <a:rPr lang="en-US" sz="4000" u="sng" dirty="0">
                <a:solidFill>
                  <a:schemeClr val="bg1"/>
                </a:solidFill>
              </a:rPr>
              <a:t>Every operation returns a new string</a:t>
            </a:r>
          </a:p>
          <a:p>
            <a:r>
              <a:rPr lang="en-US" sz="4000" u="sng" dirty="0">
                <a:solidFill>
                  <a:schemeClr val="bg1"/>
                </a:solidFill>
              </a:rPr>
              <a:t>Rebinding a variable is not mutation</a:t>
            </a:r>
          </a:p>
          <a:p>
            <a:r>
              <a:rPr lang="en-US" dirty="0">
                <a:solidFill>
                  <a:schemeClr val="bg1"/>
                </a:solidFill>
              </a:rPr>
              <a:t>We capture the new value with an assignment:</a:t>
            </a:r>
          </a:p>
          <a:p>
            <a:pPr marL="1068388" indent="0">
              <a:buNone/>
            </a:pPr>
            <a:r>
              <a:rPr lang="en-US" sz="2400" dirty="0">
                <a:solidFill>
                  <a:schemeClr val="bg1"/>
                </a:solidFill>
                <a:latin typeface="Courier" pitchFamily="2" charset="0"/>
              </a:rPr>
              <a:t>greeting = 'hello world'</a:t>
            </a:r>
          </a:p>
          <a:p>
            <a:pPr marL="1068388" indent="0">
              <a:buNone/>
            </a:pPr>
            <a:r>
              <a:rPr lang="en-US" sz="2400" dirty="0" err="1">
                <a:solidFill>
                  <a:schemeClr val="bg1"/>
                </a:solidFill>
                <a:latin typeface="Courier" pitchFamily="2" charset="0"/>
              </a:rPr>
              <a:t>new_greeting</a:t>
            </a:r>
            <a:r>
              <a:rPr lang="en-US" sz="2400" dirty="0">
                <a:solidFill>
                  <a:schemeClr val="bg1"/>
                </a:solidFill>
                <a:latin typeface="Courier" pitchFamily="2" charset="0"/>
              </a:rPr>
              <a:t> = </a:t>
            </a:r>
            <a:r>
              <a:rPr lang="en-US" sz="2400" dirty="0" err="1">
                <a:solidFill>
                  <a:schemeClr val="bg1"/>
                </a:solidFill>
                <a:latin typeface="Courier" pitchFamily="2" charset="0"/>
              </a:rPr>
              <a:t>greeting.upper</a:t>
            </a:r>
            <a:r>
              <a:rPr lang="en-US" sz="2400" dirty="0">
                <a:solidFill>
                  <a:schemeClr val="bg1"/>
                </a:solidFill>
                <a:latin typeface="Courier" pitchFamily="2" charset="0"/>
              </a:rPr>
              <a:t>( )</a:t>
            </a:r>
          </a:p>
          <a:p>
            <a:pPr marL="1068388" indent="0">
              <a:buNone/>
            </a:pPr>
            <a:r>
              <a:rPr lang="en-US" sz="2400" dirty="0">
                <a:solidFill>
                  <a:schemeClr val="bg1"/>
                </a:solidFill>
                <a:latin typeface="Courier" pitchFamily="2" charset="0"/>
              </a:rPr>
              <a:t>print(greeting)      # unchanged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6FC984-A5C1-7B4A-AB5B-9250E9454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82CE23-FBF7-DC48-86EE-D59CCB036E0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4F45E3-7A07-0A4D-AB71-68484ACEE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Course Materials 2026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Tw Cen MT">
      <a:majorFont>
        <a:latin typeface="Tw Cen MT" panose="020B0602020104020603"/>
        <a:ea typeface=""/>
        <a:cs typeface=""/>
      </a:majorFont>
      <a:minorFont>
        <a:latin typeface="Tw Cen MT" panose="020B0602020104020603"/>
        <a:ea typeface=""/>
        <a:cs typeface=""/>
      </a:minorFont>
    </a:fontScheme>
  </a:themeElements>
</a:theme>
</file>